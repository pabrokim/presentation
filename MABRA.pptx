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5580" autoAdjust="0"/>
    <p:restoredTop sz="94660"/>
  </p:normalViewPr>
  <p:slideViewPr>
    <p:cSldViewPr snapToGrid="0">
      <p:cViewPr varScale="1">
        <p:scale>
          <a:sx n="74" d="100"/>
          <a:sy n="74" d="100"/>
        </p:scale>
        <p:origin x="96" y="6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D01A-A0A3-435B-89D5-789A87FA0BCF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1D626-643A-435F-AEF7-7CA7E50E6F0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8923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D01A-A0A3-435B-89D5-789A87FA0BCF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1D626-643A-435F-AEF7-7CA7E50E6F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558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D01A-A0A3-435B-89D5-789A87FA0BCF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1D626-643A-435F-AEF7-7CA7E50E6F0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3440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D01A-A0A3-435B-89D5-789A87FA0BCF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1D626-643A-435F-AEF7-7CA7E50E6F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051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D01A-A0A3-435B-89D5-789A87FA0BCF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1D626-643A-435F-AEF7-7CA7E50E6F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504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D01A-A0A3-435B-89D5-789A87FA0BCF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1D626-643A-435F-AEF7-7CA7E50E6F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52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D01A-A0A3-435B-89D5-789A87FA0BCF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1D626-643A-435F-AEF7-7CA7E50E6F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953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10FD01A-A0A3-435B-89D5-789A87FA0BCF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271D626-643A-435F-AEF7-7CA7E50E6F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634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D01A-A0A3-435B-89D5-789A87FA0BCF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1D626-643A-435F-AEF7-7CA7E50E6F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673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D01A-A0A3-435B-89D5-789A87FA0BCF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1D626-643A-435F-AEF7-7CA7E50E6F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713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D01A-A0A3-435B-89D5-789A87FA0BCF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1D626-643A-435F-AEF7-7CA7E50E6F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001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10FD01A-A0A3-435B-89D5-789A87FA0BCF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271D626-643A-435F-AEF7-7CA7E50E6F0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758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spn.com/mma/story/_/id/41455273/ufc-reaches-375m-settlement-le-vs-zuffa-antitrust-lawsuit" TargetMode="External"/><Relationship Id="rId2" Type="http://schemas.openxmlformats.org/officeDocument/2006/relationships/hyperlink" Target="https://www.ftc.gov/advice-guidance/competition-guidance/guide-antitrust-laws/antitrust-law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177/10126902221119" TargetMode="External"/><Relationship Id="rId5" Type="http://schemas.openxmlformats.org/officeDocument/2006/relationships/hyperlink" Target="https://www.rstreet.org/commentary/matters-of-dollars-and-cents-what-does-legislation-really-cost/" TargetMode="External"/><Relationship Id="rId4" Type="http://schemas.openxmlformats.org/officeDocument/2006/relationships/hyperlink" Target="https://www.rebuildlocalnews.org/federal-government-advertising-spending-has-doubled-to-1-8-billion-since-2018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6498" y="945988"/>
            <a:ext cx="10058400" cy="3566160"/>
          </a:xfrm>
        </p:spPr>
        <p:txBody>
          <a:bodyPr>
            <a:normAutofit/>
          </a:bodyPr>
          <a:lstStyle/>
          <a:p>
            <a:pPr algn="ctr"/>
            <a:r>
              <a:rPr lang="en-US" sz="6800" b="1" dirty="0">
                <a:solidFill>
                  <a:schemeClr val="tx1"/>
                </a:solidFill>
                <a:latin typeface="Georgia" panose="02040502050405020303" pitchFamily="18" charset="0"/>
              </a:rPr>
              <a:t>Muhammad Ali Boxing Reform </a:t>
            </a:r>
            <a:r>
              <a:rPr lang="en-US" sz="6800" b="1" dirty="0" smtClean="0">
                <a:solidFill>
                  <a:schemeClr val="tx1"/>
                </a:solidFill>
                <a:latin typeface="Georgia" panose="02040502050405020303" pitchFamily="18" charset="0"/>
              </a:rPr>
              <a:t>Act (MABRA) </a:t>
            </a:r>
            <a:endParaRPr lang="en-US" sz="6800" b="1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6980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Georgia" panose="02040502050405020303" pitchFamily="18" charset="0"/>
              </a:rPr>
              <a:t>MMA </a:t>
            </a:r>
            <a:r>
              <a:rPr lang="en-US" b="1" dirty="0" smtClean="0">
                <a:solidFill>
                  <a:schemeClr val="tx1"/>
                </a:solidFill>
                <a:latin typeface="Georgia" panose="02040502050405020303" pitchFamily="18" charset="0"/>
              </a:rPr>
              <a:t>Industry</a:t>
            </a:r>
            <a:endParaRPr lang="en-US" b="1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128763"/>
            <a:ext cx="5597434" cy="249393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MMA industry is expanding globally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Athlete are insufficiently protected under MABRA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</a:t>
            </a: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olicy interventions promise fighters better outcomes</a:t>
            </a:r>
            <a:endParaRPr lang="en-US" b="1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027" name="Picture 3" descr="25-year-old MMA fighter Alexander Poniris set for UFC – The The Greek Heral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0630" y="2128762"/>
            <a:ext cx="3897087" cy="249393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3170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Georgia" panose="02040502050405020303" pitchFamily="18" charset="0"/>
              </a:rPr>
              <a:t>Challenges for Fighters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54591"/>
            <a:ext cx="5490556" cy="2954866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Low pay </a:t>
            </a: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is prevalent </a:t>
            </a:r>
            <a:r>
              <a:rPr lang="en-US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across </a:t>
            </a: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the industry (Lenartowicz et al., 2023</a:t>
            </a:r>
            <a:r>
              <a:rPr lang="en-US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  <a:endParaRPr lang="en-US" b="1" dirty="0" smtClean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Health coverage lacks despite bodily injuries (Lenartowicz </a:t>
            </a:r>
            <a:r>
              <a:rPr lang="en-US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et al., 2023)</a:t>
            </a:r>
            <a:endParaRPr lang="en-US" b="1" dirty="0" smtClean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Contracts </a:t>
            </a:r>
            <a:r>
              <a:rPr lang="en-US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favor </a:t>
            </a: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promoters in terms of profits</a:t>
            </a:r>
            <a:endParaRPr lang="en-US" b="1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4098" name="Picture 2" descr="Rafa Garcia reveals he lost 20 percent of his blood after gruesome cut on  his head opened an artery | MMA Fight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4480" y="2055324"/>
            <a:ext cx="4281200" cy="2854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3981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Georgia" panose="02040502050405020303" pitchFamily="18" charset="0"/>
              </a:rPr>
              <a:t>Three Policy </a:t>
            </a:r>
            <a:r>
              <a:rPr lang="en-US" b="1" dirty="0">
                <a:solidFill>
                  <a:schemeClr val="tx1"/>
                </a:solidFill>
                <a:latin typeface="Georgia" panose="02040502050405020303" pitchFamily="18" charset="0"/>
              </a:rPr>
              <a:t>Alternatives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052563"/>
            <a:ext cx="5543006" cy="2335439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Amend Muhammad Ali </a:t>
            </a: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Act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Limit </a:t>
            </a:r>
            <a:r>
              <a:rPr lang="en-US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UFC </a:t>
            </a: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dominance in MMA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Expand </a:t>
            </a:r>
            <a:r>
              <a:rPr lang="en-US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educational </a:t>
            </a: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programs under Ali Act</a:t>
            </a:r>
            <a:endParaRPr lang="en-US" b="1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259" y="1923184"/>
            <a:ext cx="3924300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238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Georgia" panose="02040502050405020303" pitchFamily="18" charset="0"/>
              </a:rPr>
              <a:t>MABRA Amendment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2337" y="2009019"/>
            <a:ext cx="5263936" cy="2583771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Ensures </a:t>
            </a:r>
            <a:r>
              <a:rPr lang="en-US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standardized </a:t>
            </a: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contracts for all fighters </a:t>
            </a:r>
            <a:r>
              <a:rPr lang="en-US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(Hyden, 2022) </a:t>
            </a:r>
            <a:endParaRPr lang="en-US" b="1" dirty="0" smtClean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Provides adequate health insurance coverage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Strengthens </a:t>
            </a:r>
            <a:r>
              <a:rPr lang="en-US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athlete financial </a:t>
            </a: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position</a:t>
            </a:r>
            <a:endParaRPr lang="en-US" b="1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146" name="Picture 2" descr="Lina Länsberg Wins by Bloody War in Lond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6803" y="1924783"/>
            <a:ext cx="4378877" cy="2752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1681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Georgia" panose="02040502050405020303" pitchFamily="18" charset="0"/>
              </a:rPr>
              <a:t>MABRA Amendment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096106"/>
            <a:ext cx="5401491" cy="294398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Lobbying </a:t>
            </a: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and enactment would require </a:t>
            </a:r>
            <a:r>
              <a:rPr lang="en-US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$1–10 million </a:t>
            </a: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(Hyden</a:t>
            </a:r>
            <a:r>
              <a:rPr lang="en-US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2022)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Legislative </a:t>
            </a:r>
            <a:r>
              <a:rPr lang="en-US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process </a:t>
            </a: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is time consuming (Hyden</a:t>
            </a:r>
            <a:r>
              <a:rPr lang="en-US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, 2022</a:t>
            </a: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MMA promoter </a:t>
            </a:r>
            <a:r>
              <a:rPr lang="en-US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profits </a:t>
            </a: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could decrease after the amendment</a:t>
            </a:r>
            <a:endParaRPr lang="en-US" b="1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7170" name="Picture 2" descr="This Asian MMA promoter wants to crack the US market — without the  bloodlust and trash-talking | News | wfft.co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7609" y="2096106"/>
            <a:ext cx="4857462" cy="2943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8267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Georgia" panose="02040502050405020303" pitchFamily="18" charset="0"/>
              </a:rPr>
              <a:t>UFC </a:t>
            </a:r>
            <a:r>
              <a:rPr lang="en-US" b="1" dirty="0" smtClean="0">
                <a:solidFill>
                  <a:schemeClr val="tx1"/>
                </a:solidFill>
                <a:latin typeface="Georgia" panose="02040502050405020303" pitchFamily="18" charset="0"/>
              </a:rPr>
              <a:t>Limitation</a:t>
            </a:r>
            <a:endParaRPr lang="en-US" b="1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2049190"/>
            <a:ext cx="5272347" cy="253808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Breaks UFC’s dominant in MMA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Expands opportunities for other promoters to enter the market (Hale, 2024)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Improves chances for fighters to get fair contracts</a:t>
            </a:r>
            <a:endParaRPr lang="en-US" b="1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8194" name="Picture 2" descr="The attraction to MMA promoters investing in grassroots and how it's  impacting the sport - Sportc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991" y="1816878"/>
            <a:ext cx="4478192" cy="3002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3734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Georgia" panose="02040502050405020303" pitchFamily="18" charset="0"/>
              </a:rPr>
              <a:t>UFC Limitation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030790"/>
            <a:ext cx="5292634" cy="2628295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Litigation </a:t>
            </a: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costs often </a:t>
            </a:r>
            <a:r>
              <a:rPr lang="en-US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exceed $120M </a:t>
            </a: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(Hale, 2024)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Compliance costs burdens </a:t>
            </a:r>
            <a:r>
              <a:rPr lang="en-US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promoters </a:t>
            </a: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n-GB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Federal </a:t>
            </a:r>
            <a:r>
              <a:rPr lang="en-GB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Trade </a:t>
            </a:r>
            <a:r>
              <a:rPr lang="en-GB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Commission, n.d) </a:t>
            </a:r>
            <a:endParaRPr lang="en-US" b="1" dirty="0" smtClean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UFC </a:t>
            </a:r>
            <a:r>
              <a:rPr lang="en-US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revenues could </a:t>
            </a: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decline due to added costs</a:t>
            </a:r>
            <a:endParaRPr lang="en-US" b="1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3074" name="Picture 2" descr="MMA Rankings | MMA Fight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5183" y="1901536"/>
            <a:ext cx="4000497" cy="2666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2617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Georgia" panose="02040502050405020303" pitchFamily="18" charset="0"/>
              </a:rPr>
              <a:t>Education </a:t>
            </a:r>
            <a:r>
              <a:rPr lang="en-US" b="1" dirty="0" smtClean="0">
                <a:solidFill>
                  <a:schemeClr val="tx1"/>
                </a:solidFill>
                <a:latin typeface="Georgia" panose="02040502050405020303" pitchFamily="18" charset="0"/>
              </a:rPr>
              <a:t>Outreach</a:t>
            </a:r>
            <a:endParaRPr lang="en-US" b="1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010486"/>
            <a:ext cx="5107577" cy="2539741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Raises awareness </a:t>
            </a: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about fighter rights under the Ali Act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Empowers </a:t>
            </a:r>
            <a:r>
              <a:rPr lang="en-US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athletes to </a:t>
            </a: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negotiate better terms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Requires a funding model for long term success(</a:t>
            </a:r>
            <a:r>
              <a:rPr lang="en-GB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Henson</a:t>
            </a:r>
            <a:r>
              <a:rPr lang="en-GB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n-GB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2024)</a:t>
            </a:r>
            <a:endParaRPr lang="en-US" b="1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831" y="1911927"/>
            <a:ext cx="4798869" cy="3127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27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Georgia" panose="02040502050405020303" pitchFamily="18" charset="0"/>
              </a:rPr>
              <a:t>Final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8248" y="2256418"/>
            <a:ext cx="4826658" cy="2577167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Amend </a:t>
            </a: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MABRA Act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Benefits </a:t>
            </a:r>
            <a:r>
              <a:rPr lang="en-US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outweigh </a:t>
            </a: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costs related to amendment (see table)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Law reforms assures </a:t>
            </a:r>
            <a:r>
              <a:rPr lang="en-US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athlete welfare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0234577"/>
              </p:ext>
            </p:extLst>
          </p:nvPr>
        </p:nvGraphicFramePr>
        <p:xfrm>
          <a:off x="5704906" y="1867044"/>
          <a:ext cx="5823727" cy="33559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52872">
                  <a:extLst>
                    <a:ext uri="{9D8B030D-6E8A-4147-A177-3AD203B41FA5}">
                      <a16:colId xmlns:a16="http://schemas.microsoft.com/office/drawing/2014/main" val="38047216"/>
                    </a:ext>
                  </a:extLst>
                </a:gridCol>
                <a:gridCol w="2092233">
                  <a:extLst>
                    <a:ext uri="{9D8B030D-6E8A-4147-A177-3AD203B41FA5}">
                      <a16:colId xmlns:a16="http://schemas.microsoft.com/office/drawing/2014/main" val="1457505168"/>
                    </a:ext>
                  </a:extLst>
                </a:gridCol>
                <a:gridCol w="1978622">
                  <a:extLst>
                    <a:ext uri="{9D8B030D-6E8A-4147-A177-3AD203B41FA5}">
                      <a16:colId xmlns:a16="http://schemas.microsoft.com/office/drawing/2014/main" val="1714718811"/>
                    </a:ext>
                  </a:extLst>
                </a:gridCol>
              </a:tblGrid>
              <a:tr h="5097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Policy </a:t>
                      </a:r>
                      <a:endParaRPr lang="en-US" sz="1600" b="1" kern="100" dirty="0">
                        <a:effectLst/>
                        <a:latin typeface="Helvetica" panose="020B0604020202020204" pitchFamily="34" charset="0"/>
                        <a:ea typeface="Aptos"/>
                        <a:cs typeface="Helvetica" panose="020B0604020202020204" pitchFamily="34" charset="0"/>
                      </a:endParaRPr>
                    </a:p>
                  </a:txBody>
                  <a:tcPr marL="59158" marR="5915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Costs</a:t>
                      </a:r>
                      <a:endParaRPr lang="en-US" sz="1600" b="1" kern="100" dirty="0">
                        <a:effectLst/>
                        <a:latin typeface="Helvetica" panose="020B0604020202020204" pitchFamily="34" charset="0"/>
                        <a:ea typeface="Aptos"/>
                        <a:cs typeface="Helvetica" panose="020B0604020202020204" pitchFamily="34" charset="0"/>
                      </a:endParaRPr>
                    </a:p>
                  </a:txBody>
                  <a:tcPr marL="59158" marR="5915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Outcomes</a:t>
                      </a:r>
                      <a:endParaRPr lang="en-US" sz="1600" b="1" kern="100" dirty="0">
                        <a:effectLst/>
                        <a:latin typeface="Helvetica" panose="020B0604020202020204" pitchFamily="34" charset="0"/>
                        <a:ea typeface="Aptos"/>
                        <a:cs typeface="Helvetica" panose="020B0604020202020204" pitchFamily="34" charset="0"/>
                      </a:endParaRPr>
                    </a:p>
                  </a:txBody>
                  <a:tcPr marL="59158" marR="59158" marT="0" marB="0"/>
                </a:tc>
                <a:extLst>
                  <a:ext uri="{0D108BD9-81ED-4DB2-BD59-A6C34878D82A}">
                    <a16:rowId xmlns:a16="http://schemas.microsoft.com/office/drawing/2014/main" val="1358315161"/>
                  </a:ext>
                </a:extLst>
              </a:tr>
              <a:tr h="80278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MABRA Amendment</a:t>
                      </a:r>
                      <a:endParaRPr lang="en-US" sz="1200" b="1" kern="100" dirty="0">
                        <a:effectLst/>
                        <a:latin typeface="Helvetica" panose="020B0604020202020204" pitchFamily="34" charset="0"/>
                        <a:ea typeface="Aptos"/>
                        <a:cs typeface="Helvetica" panose="020B0604020202020204" pitchFamily="34" charset="0"/>
                      </a:endParaRPr>
                    </a:p>
                  </a:txBody>
                  <a:tcPr marL="59158" marR="5915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$1–10M (in lobbying and administration)</a:t>
                      </a:r>
                      <a:endParaRPr lang="en-US" sz="1200" b="1" kern="100" dirty="0">
                        <a:effectLst/>
                        <a:latin typeface="Helvetica" panose="020B0604020202020204" pitchFamily="34" charset="0"/>
                        <a:ea typeface="Aptos"/>
                        <a:cs typeface="Helvetica" panose="020B0604020202020204" pitchFamily="34" charset="0"/>
                      </a:endParaRPr>
                    </a:p>
                  </a:txBody>
                  <a:tcPr marL="59158" marR="5915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Federal protections, fair contracts</a:t>
                      </a:r>
                      <a:endParaRPr lang="en-US" sz="1200" b="1" kern="100" dirty="0">
                        <a:effectLst/>
                        <a:latin typeface="Helvetica" panose="020B0604020202020204" pitchFamily="34" charset="0"/>
                        <a:ea typeface="Aptos"/>
                        <a:cs typeface="Helvetica" panose="020B0604020202020204" pitchFamily="34" charset="0"/>
                      </a:endParaRPr>
                    </a:p>
                  </a:txBody>
                  <a:tcPr marL="59158" marR="59158" marT="0" marB="0"/>
                </a:tc>
                <a:extLst>
                  <a:ext uri="{0D108BD9-81ED-4DB2-BD59-A6C34878D82A}">
                    <a16:rowId xmlns:a16="http://schemas.microsoft.com/office/drawing/2014/main" val="2956037590"/>
                  </a:ext>
                </a:extLst>
              </a:tr>
              <a:tr h="95970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Limit UFC’s Contractual Dominance</a:t>
                      </a:r>
                      <a:endParaRPr lang="en-US" sz="1200" b="1" kern="100" dirty="0">
                        <a:effectLst/>
                        <a:latin typeface="Helvetica" panose="020B0604020202020204" pitchFamily="34" charset="0"/>
                        <a:ea typeface="Aptos"/>
                        <a:cs typeface="Helvetica" panose="020B0604020202020204" pitchFamily="34" charset="0"/>
                      </a:endParaRPr>
                    </a:p>
                  </a:txBody>
                  <a:tcPr marL="59158" marR="5915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&gt;$120 million (in litigation costs)</a:t>
                      </a:r>
                      <a:endParaRPr lang="en-US" sz="1200" b="1" kern="100" dirty="0">
                        <a:effectLst/>
                        <a:latin typeface="Helvetica" panose="020B0604020202020204" pitchFamily="34" charset="0"/>
                        <a:ea typeface="Aptos"/>
                        <a:cs typeface="Helvetica" panose="020B0604020202020204" pitchFamily="34" charset="0"/>
                      </a:endParaRPr>
                    </a:p>
                  </a:txBody>
                  <a:tcPr marL="59158" marR="5915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Competitive pay, diversified contracts</a:t>
                      </a:r>
                      <a:endParaRPr lang="en-US" sz="1200" b="1" kern="100" dirty="0">
                        <a:effectLst/>
                        <a:latin typeface="Helvetica" panose="020B0604020202020204" pitchFamily="34" charset="0"/>
                        <a:ea typeface="Aptos"/>
                        <a:cs typeface="Helvetica" panose="020B0604020202020204" pitchFamily="34" charset="0"/>
                      </a:endParaRPr>
                    </a:p>
                  </a:txBody>
                  <a:tcPr marL="59158" marR="59158" marT="0" marB="0"/>
                </a:tc>
                <a:extLst>
                  <a:ext uri="{0D108BD9-81ED-4DB2-BD59-A6C34878D82A}">
                    <a16:rowId xmlns:a16="http://schemas.microsoft.com/office/drawing/2014/main" val="4112662565"/>
                  </a:ext>
                </a:extLst>
              </a:tr>
              <a:tr h="108363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Educational Outreach under the Ali Act</a:t>
                      </a:r>
                      <a:endParaRPr lang="en-US" sz="1200" b="1" kern="100" dirty="0">
                        <a:effectLst/>
                        <a:latin typeface="Helvetica" panose="020B0604020202020204" pitchFamily="34" charset="0"/>
                        <a:ea typeface="Aptos"/>
                        <a:cs typeface="Helvetica" panose="020B0604020202020204" pitchFamily="34" charset="0"/>
                      </a:endParaRPr>
                    </a:p>
                  </a:txBody>
                  <a:tcPr marL="59158" marR="5915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$0.5–1M annually</a:t>
                      </a:r>
                      <a:endParaRPr lang="en-US" sz="1200" b="1" kern="100" dirty="0">
                        <a:effectLst/>
                        <a:latin typeface="Helvetica" panose="020B0604020202020204" pitchFamily="34" charset="0"/>
                        <a:ea typeface="Aptos"/>
                        <a:cs typeface="Helvetica" panose="020B0604020202020204" pitchFamily="34" charset="0"/>
                      </a:endParaRPr>
                    </a:p>
                  </a:txBody>
                  <a:tcPr marL="59158" marR="5915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Greater awareness and empowerment</a:t>
                      </a:r>
                      <a:endParaRPr lang="en-US" sz="1200" b="1" kern="100" dirty="0">
                        <a:effectLst/>
                        <a:latin typeface="Helvetica" panose="020B0604020202020204" pitchFamily="34" charset="0"/>
                        <a:ea typeface="Aptos"/>
                        <a:cs typeface="Helvetica" panose="020B0604020202020204" pitchFamily="34" charset="0"/>
                      </a:endParaRPr>
                    </a:p>
                  </a:txBody>
                  <a:tcPr marL="59158" marR="59158" marT="0" marB="0"/>
                </a:tc>
                <a:extLst>
                  <a:ext uri="{0D108BD9-81ED-4DB2-BD59-A6C34878D82A}">
                    <a16:rowId xmlns:a16="http://schemas.microsoft.com/office/drawing/2014/main" val="1130432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7766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Georgia" panose="02040502050405020303" pitchFamily="18" charset="0"/>
              </a:rPr>
              <a:t>References</a:t>
            </a:r>
            <a:endParaRPr lang="en-US" b="1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658697"/>
            <a:ext cx="10058400" cy="5095394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Federal Trade Commission. (n.d). The antitrust laws. </a:t>
            </a:r>
            <a:r>
              <a:rPr lang="en-GB" sz="1400" b="1" u="sng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  <a:hlinkClick r:id="rId2"/>
              </a:rPr>
              <a:t>https://www.ftc.gov/advice-guidance/competition-guidance/guide-antitrust-laws/antitrust-laws</a:t>
            </a:r>
            <a:r>
              <a:rPr lang="en-GB" sz="1400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endParaRPr lang="en-GB" sz="1400" b="1" dirty="0" smtClean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Hale, A. (2024). UFC reaches $375M settlement in Le v. Zuffa antitrust lawsuit. </a:t>
            </a:r>
            <a:r>
              <a:rPr lang="en-US" sz="1400" b="1" i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ESPN</a:t>
            </a:r>
            <a:r>
              <a:rPr lang="en-US" sz="1400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 </a:t>
            </a:r>
            <a:r>
              <a:rPr lang="en-US" sz="1400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  <a:hlinkClick r:id="rId3"/>
              </a:rPr>
              <a:t>https://www.espn.com/mma/story/_/id/41455273/ufc-reaches-375m-settlement-le-vs-zuffa-antitrust-lawsuit</a:t>
            </a:r>
            <a:r>
              <a:rPr lang="en-US" sz="1400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</a:p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GB" sz="1400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Henson</a:t>
            </a:r>
            <a:r>
              <a:rPr lang="en-GB" sz="1400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, L. (2024). Federal government advertising spending has doubled to $1.8 billion since 2018. </a:t>
            </a:r>
            <a:r>
              <a:rPr lang="en-GB" sz="1400" b="1" u="sng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  <a:hlinkClick r:id="rId4"/>
              </a:rPr>
              <a:t>https://www.rebuildlocalnews.org/federal-government-advertising-spending-has-doubled-to-1-8-billion-since-2018/</a:t>
            </a:r>
            <a:r>
              <a:rPr lang="en-GB" sz="1400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endParaRPr lang="en-US" sz="1400" b="1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Hyden</a:t>
            </a:r>
            <a:r>
              <a:rPr lang="en-GB" sz="1400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, M. (2022). </a:t>
            </a:r>
            <a:r>
              <a:rPr lang="en-US" sz="1400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Matters of dollars and cents, what does legislation really cost? </a:t>
            </a:r>
            <a:r>
              <a:rPr lang="en-US" sz="1400" b="1" u="sng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  <a:hlinkClick r:id="rId5"/>
              </a:rPr>
              <a:t>https://www.rstreet.org/commentary/matters-of-dollars-and-cents-what-does-legislation-really-cost/</a:t>
            </a:r>
            <a:r>
              <a:rPr lang="en-US" sz="1400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</a:p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400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Lenartowicz</a:t>
            </a:r>
            <a:r>
              <a:rPr lang="en-US" sz="1400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, M., Dobrzycki, A., &amp; Jasny, M. (2023). ‘Let's face it, it's not a healthy sport’: Perceived health status and experience of injury among Polish professional mixed martial arts athletes. </a:t>
            </a:r>
            <a:r>
              <a:rPr lang="en-US" sz="1400" b="1" i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International Review for the Sociology of Sport, 58</a:t>
            </a:r>
            <a:r>
              <a:rPr lang="en-US" sz="1400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(3), 589-607. </a:t>
            </a:r>
            <a:r>
              <a:rPr lang="en-US" sz="1400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  <a:hlinkClick r:id="rId6"/>
              </a:rPr>
              <a:t>https://</a:t>
            </a:r>
            <a:r>
              <a:rPr lang="en-US" sz="1400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  <a:hlinkClick r:id="rId6"/>
              </a:rPr>
              <a:t>doi.org/10.1177/10126902221119</a:t>
            </a:r>
            <a:r>
              <a:rPr lang="en-US" sz="1400" b="1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endParaRPr lang="en-US" sz="1400" b="1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247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303</TotalTime>
  <Words>444</Words>
  <Application>Microsoft Office PowerPoint</Application>
  <PresentationFormat>Widescreen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Georgia</vt:lpstr>
      <vt:lpstr>Helvetica</vt:lpstr>
      <vt:lpstr>Retrospect</vt:lpstr>
      <vt:lpstr>Muhammad Ali Boxing Reform Act (MABRA) </vt:lpstr>
      <vt:lpstr>MMA Industry</vt:lpstr>
      <vt:lpstr>Challenges for Fighters</vt:lpstr>
      <vt:lpstr>Three Policy Alternatives</vt:lpstr>
      <vt:lpstr>MABRA Amendment Benefits</vt:lpstr>
      <vt:lpstr>MABRA Amendment Costs</vt:lpstr>
      <vt:lpstr>UFC Limitation</vt:lpstr>
      <vt:lpstr>UFC Limitation Costs</vt:lpstr>
      <vt:lpstr>Education Outreach</vt:lpstr>
      <vt:lpstr>Final Recommendation</vt:lpstr>
      <vt:lpstr>References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Mixed Martial Arts (MMA)</dc:title>
  <dc:creator>user</dc:creator>
  <cp:lastModifiedBy>user</cp:lastModifiedBy>
  <cp:revision>35</cp:revision>
  <dcterms:created xsi:type="dcterms:W3CDTF">2025-09-25T13:54:56Z</dcterms:created>
  <dcterms:modified xsi:type="dcterms:W3CDTF">2026-09-03T08:52:16Z</dcterms:modified>
</cp:coreProperties>
</file>