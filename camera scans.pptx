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5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65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8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4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94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39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1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85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0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13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46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873655-8402-47E7-86B0-91ECB2DE96A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CD4B488-9BDC-41D8-BEF4-2D4CFEEE11BE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36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0574/msarr.2023.9.2.0179" TargetMode="External"/><Relationship Id="rId3" Type="http://schemas.openxmlformats.org/officeDocument/2006/relationships/hyperlink" Target="https://artificialintelligenceact.eu/article/5/" TargetMode="External"/><Relationship Id="rId7" Type="http://schemas.openxmlformats.org/officeDocument/2006/relationships/hyperlink" Target="https://doi.org/10.13140/RG.2.2.36029.03049" TargetMode="External"/><Relationship Id="rId2" Type="http://schemas.openxmlformats.org/officeDocument/2006/relationships/hyperlink" Target="https://www.equalityhumanrights.com/met-polices-use-facial-recognition-tech-must-comply-human-rights-law-says-regulat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ashingtonpost.com/business/2025/05/19/live-facial-recognition-police-new-orleans/" TargetMode="External"/><Relationship Id="rId5" Type="http://schemas.openxmlformats.org/officeDocument/2006/relationships/hyperlink" Target="https://doi.org/10.58875/ACOG7116" TargetMode="External"/><Relationship Id="rId4" Type="http://schemas.openxmlformats.org/officeDocument/2006/relationships/hyperlink" Target="https://doi.org/10.1017/S0008197323000454" TargetMode="External"/><Relationship Id="rId9" Type="http://schemas.openxmlformats.org/officeDocument/2006/relationships/hyperlink" Target="https://doi.org/10.1080/08839514.2025.246372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Facial Recognition Systems</a:t>
            </a:r>
          </a:p>
        </p:txBody>
      </p:sp>
    </p:spTree>
    <p:extLst>
      <p:ext uri="{BB962C8B-B14F-4D97-AF65-F5344CB8AC3E}">
        <p14:creationId xmlns:p14="http://schemas.microsoft.com/office/powerpoint/2010/main" val="25887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Introduction Hook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344497"/>
            <a:ext cx="6727076" cy="281978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“Imagine walking to buy groceries. A camera scans your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face and a computer matches you to a mugshot.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Two minutes later, police stop you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. And they will not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tell you why. Now stop imagining.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It is happening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here.”</a:t>
            </a:r>
          </a:p>
        </p:txBody>
      </p:sp>
      <p:pic>
        <p:nvPicPr>
          <p:cNvPr id="12292" name="Picture 4" descr="Imagine - Free smileys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772" y="2306204"/>
            <a:ext cx="2705188" cy="270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14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How It 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Works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82469"/>
            <a:ext cx="5335325" cy="302824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Live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f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acial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r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ecognition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(LFR) uses AI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(Gikay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,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2023)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LFR analyzes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faces captured by CCTV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cameras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</a:t>
            </a:r>
            <a:r>
              <a:rPr lang="de-DE" b="1" dirty="0">
                <a:solidFill>
                  <a:schemeClr val="tx1"/>
                </a:solidFill>
                <a:latin typeface="Trebuchet MS" panose="020B0603020202020204" pitchFamily="34" charset="0"/>
              </a:rPr>
              <a:t>MacMillan &amp; Schaffer, 2025</a:t>
            </a:r>
            <a:r>
              <a:rPr lang="de-DE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  <a:endParaRPr lang="en-US" b="1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Tech compares face features to mugshots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or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suspects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1026" name="Picture 2" descr="Facial recognition system. What is facial recognition? | by Raquel  Villaverde | Adalab | Medium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9" t="1570" r="18919"/>
          <a:stretch/>
        </p:blipFill>
        <p:spPr bwMode="auto">
          <a:xfrm>
            <a:off x="7200900" y="2082469"/>
            <a:ext cx="3190010" cy="302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07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F2B3C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Human </a:t>
            </a:r>
            <a:r>
              <a:rPr lang="en-US" b="1" dirty="0">
                <a:solidFill>
                  <a:srgbClr val="0F2B3C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Rights at </a:t>
            </a:r>
            <a:r>
              <a:rPr lang="en-US" b="1" dirty="0" smtClean="0">
                <a:solidFill>
                  <a:srgbClr val="0F2B3C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70425"/>
            <a:ext cx="5247861" cy="275341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Right to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privacy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(UDHR Article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12)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Freedom of assembly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(UDHR Article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20)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Freedom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from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discrimination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(UDHR Article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7)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2050" name="Picture 2" descr="Universal Declaration of Human Rights - Diplomatic Academ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618" y="1970425"/>
            <a:ext cx="4405457" cy="275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01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F2B3C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The Ethical </a:t>
            </a:r>
            <a:r>
              <a:rPr lang="en-US" b="1" dirty="0" smtClean="0">
                <a:solidFill>
                  <a:srgbClr val="0F2B3C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Tension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462" y="1964499"/>
            <a:ext cx="5365865" cy="33437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Harvests biometric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data without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consent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(Okonkwo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,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2023)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Undermines the right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to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demonstrate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Targets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people of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color discriminately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(Hickok &amp; Hu,2024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Ensuring ethical practice: beyond policies and procedures - Law Society  Jour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442" y="1970425"/>
            <a:ext cx="4772238" cy="321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82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The Scene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7508" y="1853685"/>
            <a:ext cx="5108171" cy="285339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Event occurred in New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Orleans,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Louisiana, U.S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Program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was secretly active from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2023 (</a:t>
            </a:r>
            <a:r>
              <a:rPr lang="de-DE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MacMillan &amp; </a:t>
            </a:r>
            <a:r>
              <a:rPr lang="de-DE" b="1" dirty="0">
                <a:solidFill>
                  <a:schemeClr val="tx1"/>
                </a:solidFill>
                <a:latin typeface="Trebuchet MS" panose="020B0603020202020204" pitchFamily="34" charset="0"/>
              </a:rPr>
              <a:t>Schaffer, </a:t>
            </a:r>
            <a:r>
              <a:rPr lang="de-DE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2025)</a:t>
            </a:r>
            <a:endParaRPr lang="en-US" b="1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Program exposed by the Washington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Post in May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2025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4098" name="Picture 2" descr="The Best Time To Visit New Orleans For Every Type Of Travel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336" y="1936552"/>
            <a:ext cx="4332409" cy="2687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97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What Happened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49643"/>
            <a:ext cx="5739938" cy="29655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NOPD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partnered with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Project NOLA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200+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real-time LFR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cameras were installed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</a:t>
            </a:r>
            <a:r>
              <a:rPr lang="de-DE" b="1" dirty="0">
                <a:solidFill>
                  <a:schemeClr val="tx1"/>
                </a:solidFill>
                <a:latin typeface="Trebuchet MS" panose="020B0603020202020204" pitchFamily="34" charset="0"/>
              </a:rPr>
              <a:t>MacMillan &amp; Schaffer, 2025</a:t>
            </a:r>
            <a:r>
              <a:rPr lang="de-DE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  <a:endParaRPr lang="en-US" b="1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Software scanned passersby and sent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instant alerts to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officers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(Gikay, 2023)</a:t>
            </a:r>
          </a:p>
        </p:txBody>
      </p:sp>
      <p:pic>
        <p:nvPicPr>
          <p:cNvPr id="5122" name="Picture 2" descr="Guest column: Expanding facial recognition is a bad move | Guest Columns |  nola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679" y="1949643"/>
            <a:ext cx="4448292" cy="296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12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Who Was Affected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11988"/>
            <a:ext cx="6654338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34 residents were arrested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</a:t>
            </a:r>
            <a:r>
              <a:rPr lang="de-DE" b="1" dirty="0">
                <a:solidFill>
                  <a:schemeClr val="tx1"/>
                </a:solidFill>
                <a:latin typeface="Trebuchet MS" panose="020B0603020202020204" pitchFamily="34" charset="0"/>
              </a:rPr>
              <a:t>MacMillan &amp; Schaffer, 2025)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Randal Reid was wrongfully arrested (Article 10 of UHDR) (Hickok &amp; Hu,2024)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Blacks, immigrants, and activists (Article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8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of ECHR and Article 12 of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UDHR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</a:p>
        </p:txBody>
      </p:sp>
      <p:pic>
        <p:nvPicPr>
          <p:cNvPr id="6146" name="Picture 2" descr="Thousands of Dollars for Something I Didn't Do' - The New York Tim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262" y="2011988"/>
            <a:ext cx="3304309" cy="330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75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Critical 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6145184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Failure of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democratic accountability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City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Council banned real-time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surveillance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</a:t>
            </a:r>
            <a:r>
              <a:rPr lang="de-DE" b="1" dirty="0">
                <a:solidFill>
                  <a:schemeClr val="tx1"/>
                </a:solidFill>
                <a:latin typeface="Trebuchet MS" panose="020B0603020202020204" pitchFamily="34" charset="0"/>
              </a:rPr>
              <a:t>MacMillan &amp; Schaffer, 2025</a:t>
            </a:r>
            <a:r>
              <a:rPr lang="de-DE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  <a:endParaRPr lang="en-US" b="1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Police did it in secret (MacMillan &amp; Schaffer, 2025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Lack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of t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ransparency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 smtClean="0">
                <a:solidFill>
                  <a:schemeClr val="tx1"/>
                </a:solidFill>
                <a:latin typeface="Trebuchet MS" panose="020B0603020202020204" pitchFamily="34" charset="0"/>
              </a:rPr>
              <a:t>Watchlist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was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private; Police did not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log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alerts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No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way for the public or courts to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check the bias of the system (Min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,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2023)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7170" name="Picture 2" descr="NOPD Promotes Multiple Officers to Higher Rank in Feb. 17 Ceremony - NOPD  Ne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339" y="2244436"/>
            <a:ext cx="4633750" cy="307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30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Impact &amp; 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Aftermath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78180"/>
            <a:ext cx="5677593" cy="306532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ACLU outcry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for a full investigation and a new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moratorium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</a:t>
            </a:r>
            <a:r>
              <a:rPr lang="de-DE" b="1" dirty="0">
                <a:solidFill>
                  <a:schemeClr val="tx1"/>
                </a:solidFill>
                <a:latin typeface="Trebuchet MS" panose="020B0603020202020204" pitchFamily="34" charset="0"/>
              </a:rPr>
              <a:t>MacMillan &amp; Schaffer, 2025)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City forced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to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pause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the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program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</a:t>
            </a:r>
            <a:r>
              <a:rPr lang="de-DE" b="1" dirty="0">
                <a:solidFill>
                  <a:schemeClr val="tx1"/>
                </a:solidFill>
                <a:latin typeface="Trebuchet MS" panose="020B0603020202020204" pitchFamily="34" charset="0"/>
              </a:rPr>
              <a:t>MacMillan &amp; Schaffer, 2025</a:t>
            </a:r>
            <a:r>
              <a:rPr lang="de-DE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Case proves police can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expand surveillance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beyond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what is legal or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ethical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158" y="2078180"/>
            <a:ext cx="4703046" cy="30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Recommendations</a:t>
            </a:r>
            <a:r>
              <a:rPr lang="en-US" b="1" dirty="0" smtClean="0">
                <a:solidFill>
                  <a:srgbClr val="0F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604856" cy="4023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1. Prohibit real-time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p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ublic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s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urveillance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Pass laws that explicitly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ban LFR in public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EU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AI Act (Article 5)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prohibits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LFR for law enforcement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‌(Future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of Life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Institute, 2025)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B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an is the only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way to prevent the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mission creep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seen in New </a:t>
            </a: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Orleans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4" name="Picture 2" descr="No surveillance camera sign. Forbidding sign video surveillance is  prohibited. Sign red crossed out circle with a security camera icon inside.  Tracking is prohibited. Round red sign. Stop camera. 23212310 Vector A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098" y="2056245"/>
            <a:ext cx="3110057" cy="311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69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Recommendations </a:t>
            </a:r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(cont’d)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70425"/>
            <a:ext cx="6114011" cy="28093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2. Make real-time audits mandatory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Use of FRS must be logged 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Independent body to publish quarterly reports on the accuracy rate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EHRC is pursuing the same outcome in the Thompson v Met Police case (Equality and Human Rights, 2025)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9218" name="Picture 2" descr="1,129 Scanning Crowd Stock Video Footage - 4K and HD Video Clips |  Shutter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845" y="1970425"/>
            <a:ext cx="4114800" cy="280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5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2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Recommendations (cont’d)</a:t>
            </a: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916584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3. Ban secret watchlists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rebuchet MS" panose="020B0603020202020204" pitchFamily="34" charset="0"/>
              </a:rPr>
              <a:t>Law that requires watchlists to be pre-approved by a judge</a:t>
            </a:r>
            <a:endParaRPr lang="en-US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rebuchet MS" panose="020B0603020202020204" pitchFamily="34" charset="0"/>
              </a:rPr>
              <a:t>Regulation based on specific evidence of a crime</a:t>
            </a:r>
            <a:endParaRPr lang="en-US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rebuchet MS" panose="020B0603020202020204" pitchFamily="34" charset="0"/>
              </a:rPr>
              <a:t>Citizens' right to know whether on a </a:t>
            </a:r>
            <a:r>
              <a:rPr lang="en-US" sz="1800" b="1" dirty="0" err="1" smtClean="0">
                <a:solidFill>
                  <a:schemeClr val="tx1"/>
                </a:solidFill>
                <a:latin typeface="Trebuchet MS" panose="020B0603020202020204" pitchFamily="34" charset="0"/>
              </a:rPr>
              <a:t>watchlist</a:t>
            </a:r>
            <a:endParaRPr lang="en-US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rebuchet MS" panose="020B0603020202020204" pitchFamily="34" charset="0"/>
              </a:rPr>
              <a:t>Radanliev (2025) requires that AI systems be transparent through community participation</a:t>
            </a:r>
            <a:endParaRPr lang="en-US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11266" name="Picture 2" descr="Exclusive: FBI document reveals local and state police are collecting  intelligence to expand terrorism watch 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673" y="2308924"/>
            <a:ext cx="4239203" cy="295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69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References</a:t>
            </a:r>
            <a:endParaRPr lang="en-US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Equality and Human Rights. (2025). 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Met Police’s use of facial recognition tech must comply with human rights law, says regulator.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Equality and Human Rights. </a:t>
            </a:r>
            <a:r>
              <a:rPr lang="en-US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2"/>
              </a:rPr>
              <a:t>https://www.equalityhumanrights.com/met-polices-use-facial-recognition-tech-must-comply-human-rights-law-says-regulator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Future of Life Institute. (2025, February 2). 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Article 5: Prohibited artificial intelligence practices. 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EU Artificial Intelligence Act. </a:t>
            </a:r>
            <a:r>
              <a:rPr lang="en-US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3"/>
              </a:rPr>
              <a:t>https://artificialintelligenceact.eu/article/5/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Gikay, A. A. (2023). Regulating use by law enforcement authorities of live facial recognition technology in public spaces: An incremental approach.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The Cambridge Law Journal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,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82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(3), 414-449. </a:t>
            </a:r>
            <a:r>
              <a:rPr lang="en-US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4"/>
              </a:rPr>
              <a:t>https://doi.org/</a:t>
            </a:r>
            <a:r>
              <a:rPr lang="en-KE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4"/>
              </a:rPr>
              <a:t>10.1017/S0008197323000454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Hickok, M., &amp; Hu, E. (2024). Don’t let governments buy AI systems that ignore human rights.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Issues in Science and Technology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,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40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(3), 37-41. </a:t>
            </a:r>
            <a:r>
              <a:rPr lang="en-US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5"/>
              </a:rPr>
              <a:t>https://doi.org/10.58875/ACOG7116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MacMillan, D., &amp; Schaffer, A. (2025, May 19).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Police secretly monitored New Orleans with facial recognition cameras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. The Washington Post. </a:t>
            </a:r>
            <a:r>
              <a:rPr lang="en-US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6"/>
              </a:rPr>
              <a:t>https://www.washingtonpost.com/business/2025/05/19/live-facial-recognition-police-new-orleans/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Min, A. (2023). Artificial intelligence and bias: Challenges, implications, and remedies.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Journal of Social Research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,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(11), 1-33. </a:t>
            </a:r>
            <a:r>
              <a:rPr lang="en-US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7"/>
              </a:rPr>
              <a:t>https://doi.org/10.13140/RG.2.2.36029.03049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Okonkwo, O. A. (2023). Ethical tensions between AI surveillance architectures, human rights preservation, and the universal entitlement to digital privacy and dignity.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Magna </a:t>
            </a:r>
            <a:r>
              <a:rPr lang="en-US" b="1" i="1" dirty="0" err="1">
                <a:solidFill>
                  <a:schemeClr val="tx1"/>
                </a:solidFill>
                <a:latin typeface="Trebuchet MS" panose="020B0603020202020204" pitchFamily="34" charset="0"/>
              </a:rPr>
              <a:t>Scientia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 Advanced Research and Reviews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,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9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(2), </a:t>
            </a:r>
            <a:r>
              <a:rPr lang="en-KE" b="1" dirty="0">
                <a:solidFill>
                  <a:schemeClr val="tx1"/>
                </a:solidFill>
                <a:latin typeface="Trebuchet MS" panose="020B0603020202020204" pitchFamily="34" charset="0"/>
              </a:rPr>
              <a:t>222-238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. </a:t>
            </a:r>
            <a:r>
              <a:rPr lang="en-US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8"/>
              </a:rPr>
              <a:t>https://doi.org/10.30574/msarr.2023.9.2.0179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Radanliev, P. (2025). AI ethics: Integrating transparency, fairness, and privacy in AI development.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Applied Artificial Intelligence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, </a:t>
            </a:r>
            <a:r>
              <a:rPr lang="en-US" b="1" i="1" dirty="0">
                <a:solidFill>
                  <a:schemeClr val="tx1"/>
                </a:solidFill>
                <a:latin typeface="Trebuchet MS" panose="020B0603020202020204" pitchFamily="34" charset="0"/>
              </a:rPr>
              <a:t>39</a:t>
            </a:r>
            <a:r>
              <a:rPr 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(1), 2463722. </a:t>
            </a:r>
            <a:r>
              <a:rPr lang="en-US" b="1" u="sng" dirty="0">
                <a:solidFill>
                  <a:schemeClr val="tx1"/>
                </a:solidFill>
                <a:latin typeface="Trebuchet MS" panose="020B0603020202020204" pitchFamily="34" charset="0"/>
                <a:hlinkClick r:id="rId9"/>
              </a:rPr>
              <a:t>https://doi.org/10.1080/08839514.2025.2463722</a:t>
            </a:r>
            <a:endParaRPr lang="en-US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69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393</TotalTime>
  <Words>602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Trebuchet MS</vt:lpstr>
      <vt:lpstr>Retrospect</vt:lpstr>
      <vt:lpstr>Facial Recognition Systems</vt:lpstr>
      <vt:lpstr>Introduction Hook</vt:lpstr>
      <vt:lpstr>How It Works</vt:lpstr>
      <vt:lpstr>Human Rights at Risk</vt:lpstr>
      <vt:lpstr>The Ethical Tension</vt:lpstr>
      <vt:lpstr>The Scene</vt:lpstr>
      <vt:lpstr>What Happened?</vt:lpstr>
      <vt:lpstr>Who Was Affected?</vt:lpstr>
      <vt:lpstr>Critical Analysis</vt:lpstr>
      <vt:lpstr>Impact &amp; Aftermath</vt:lpstr>
      <vt:lpstr>Recommendations </vt:lpstr>
      <vt:lpstr>Recommendations (cont’d)</vt:lpstr>
      <vt:lpstr>Recommendations (cont’d)</vt:lpstr>
      <vt:lpstr>References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50</cp:revision>
  <dcterms:created xsi:type="dcterms:W3CDTF">2026-04-13T11:59:41Z</dcterms:created>
  <dcterms:modified xsi:type="dcterms:W3CDTF">2026-09-03T08:52:24Z</dcterms:modified>
</cp:coreProperties>
</file>